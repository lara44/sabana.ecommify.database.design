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58" r:id="rId5"/>
    <p:sldId id="259" r:id="rId6"/>
    <p:sldId id="260" r:id="rId7"/>
    <p:sldId id="266" r:id="rId8"/>
    <p:sldId id="261" r:id="rId9"/>
    <p:sldId id="262" r:id="rId10"/>
    <p:sldId id="267" r:id="rId11"/>
    <p:sldId id="269" r:id="rId12"/>
    <p:sldId id="268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91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812280" y="3200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251192" y="3200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690104" y="3200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129016" y="3200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567928" y="32004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812280" y="758952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251192" y="758952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690104" y="758952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8129016" y="758952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8567928" y="758952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12280" y="1197864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251192" y="1197864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690104" y="1197864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8129016" y="1197864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567928" y="1197864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812280" y="1636776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251192" y="1636776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690104" y="1636776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8129016" y="1636776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8567928" y="1636776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812280" y="2075688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7251192" y="2075688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690104" y="2075688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8129016" y="2075688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8567928" y="2075688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02920" y="914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502920" y="1874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502920" y="2651760"/>
            <a:ext cx="4572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0292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relacional avanzado — PostgreSQL + MongoDB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Caballero García   ·   Astrid Carolina Rodríguez Cristancho   ·   Brian Maldonado   ·   Luis Alberto Rojas Adames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663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 ·  Maestría en Arquitectura de Software  ·  Universidad de La Sabana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Decisión Arquitectónica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2267712"/>
            <a:ext cx="10972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Ecommify gestiona pedidos, pagos, clientes, vendedores y catálogo de productos en un entorno e-commerce de alta transaccionalidad.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9184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3360" y="2267712"/>
            <a:ext cx="10972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con necesidades distintas: transacciones ACID para pedidos y pagos, vs catálogo flexible y analítica de alta lectura.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86868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080760" y="868680"/>
            <a:ext cx="27432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17220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2267712"/>
            <a:ext cx="10972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217920" y="2423160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híbrida: PostgreSQL en Amazon RDS para el módulo transaccional, MongoDB Atlas para catálogo analítico y reseñas.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Requisitos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Requisitos Funcionales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749808"/>
            <a:ext cx="4114800" cy="329184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754880" y="749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Requisitos No Funcionales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685800" cy="5852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4320" y="1170432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RF-01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12435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Gestionar clientes y vendedores con geolocalización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4114800" cy="585216"/>
          </a:xfrm>
          <a:prstGeom prst="rect">
            <a:avLst/>
          </a:prstGeom>
          <a:solidFill>
            <a:srgbClr val="F2F6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685800" cy="5852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RF-03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18653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Registrar órdenes con trazabilidad logística completa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685800" cy="5852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" y="2414016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RF-05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" y="2487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Gestionar pagos con consistencia transaccional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35808"/>
            <a:ext cx="4114800" cy="585216"/>
          </a:xfrm>
          <a:prstGeom prst="rect">
            <a:avLst/>
          </a:prstGeom>
          <a:solidFill>
            <a:srgbClr val="F2F6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74320" y="3035808"/>
            <a:ext cx="685800" cy="5852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74320" y="30358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RF-07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31089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Soportar consultas analíticas OLAP sobre ventas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685800" cy="5852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74320" y="3657600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RF-08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37307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Atributos variables por categoría con JSONB y MongoDB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4114800" cy="585216"/>
          </a:xfrm>
          <a:prstGeom prst="rect">
            <a:avLst/>
          </a:prstGeom>
          <a:solidFill>
            <a:srgbClr val="F2F6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74320" y="4279392"/>
            <a:ext cx="685800" cy="5852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74320" y="4279392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RF-10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05840" y="43525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Escalabilidad: migración parcial a MongoDB sin afectar OLTP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170432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4754880" y="1170432"/>
            <a:ext cx="685800" cy="585216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754880" y="1170432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RNF-01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0" y="12435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Consistencia ACID en órdenes y pagos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792224"/>
            <a:ext cx="4114800" cy="585216"/>
          </a:xfrm>
          <a:prstGeom prst="rect">
            <a:avLst/>
          </a:prstGeom>
          <a:solidFill>
            <a:srgbClr val="F0FFF6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754880" y="1792224"/>
            <a:ext cx="685800" cy="585216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754880" y="1792224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RNF-04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0" y="18653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Flexibilidad de esquema con JSONB y documentos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414016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4754880" y="2414016"/>
            <a:ext cx="685800" cy="585216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4754880" y="2414016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RNF-05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0" y="2487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Rendimiento con índices, MVs y particionamiento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035808"/>
            <a:ext cx="4114800" cy="585216"/>
          </a:xfrm>
          <a:prstGeom prst="rect">
            <a:avLst/>
          </a:prstGeom>
          <a:solidFill>
            <a:srgbClr val="F0FFF6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4754880" y="3035808"/>
            <a:ext cx="685800" cy="585216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4754880" y="30358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RNF-08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86400" y="31089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Compatible con Supabase Free Tier y Atlas M0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657600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4754880" y="3657600"/>
            <a:ext cx="685800" cy="585216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754880" y="3657600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RNF-09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86400" y="37307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Trazabilidad temporal con TIMESTAMPTZ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279392"/>
            <a:ext cx="4114800" cy="585216"/>
          </a:xfrm>
          <a:prstGeom prst="rect">
            <a:avLst/>
          </a:prstGeom>
          <a:solidFill>
            <a:srgbClr val="F0FFF6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4754880" y="4279392"/>
            <a:ext cx="685800" cy="585216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4754880" y="4279392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RNF-10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486400" y="43525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</a:rPr>
              <a:t>Seguridad con restricciones CHECK y pgcrypto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ER Conceptual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164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Módulo Transaccional-Analítico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8778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Lógico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164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· NULL/NOT NULL · Claves · Constraints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8778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Avanzados &amp; Extensiones PostgreSQL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9144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941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TEXT[]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products.images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11680" y="960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URLs de imágenes en S3 sin tabla adicional. Permite array_append() y consultas con ANY().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91440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1947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product_details.attributes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19659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variables por categoría (RAM, tallas, ISBN). Indexable con GIN, consultable con operadores @&gt; y -&gt;.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914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29718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gen_random_uuid() via pgcrypto. Portabilidad entre motores y clave de sincronización con MongoDB.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2920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fechas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39776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horaria explícita. Crítico para operaciones con vendedores y clientes en múltiples regiones.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804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1261872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035040" y="1261872"/>
            <a:ext cx="28346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172200" y="1426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pgcrypto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1773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UUIDs con gen_random_uuid()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496312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035040" y="2496312"/>
            <a:ext cx="28346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172200" y="26609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pg_trgm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30083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fuzzy en products.name — tolera errores tipográficos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3730752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035040" y="3730752"/>
            <a:ext cx="28346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172200" y="3895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72200" y="4242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geoespaciales sobre geolocations (RDS / Supabase)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Esquema MongoDB — Módulo Analítico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06240" cy="54864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292608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«Collection»  product_catalog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</a:rPr>
              <a:t>Consolida products + product_details. Atributos variables por categoría sin columnas nulas.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3931920" cy="25603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29768" y="1737360"/>
            <a:ext cx="38039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"uuid-postgresql",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"Notebook Pro 15",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"informatica",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"images": ["url1.jpg", "url2.jpg"],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"attributes":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"ram_gb": 16,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"processor": "Intel i7",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"storage_gb": 512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"updated_at": "2026-05-18T02:00:00Z"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65760" y="4315968"/>
            <a:ext cx="3931920" cy="594360"/>
          </a:xfrm>
          <a:prstGeom prst="rect">
            <a:avLst/>
          </a:prstGeom>
          <a:solidFill>
            <a:srgbClr val="000000"/>
          </a:solidFill>
          <a:ln w="635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9768" y="4315968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AA6F"/>
                </a:solidFill>
              </a:rPr>
              <a:t>Patrón: Embedded Document + Extended Reference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749808"/>
            <a:ext cx="42062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20624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800600" y="868680"/>
            <a:ext cx="393192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00600" y="868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«Collection»  reviews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216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</a:rPr>
              <a:t>Texto libre y metadatos analíticos. Optimizado para Aggregation Pipeline de MongoDB.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1682496"/>
            <a:ext cx="3931920" cy="25603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64608" y="1737360"/>
            <a:ext cx="38039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"uuid",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"order_id": "uuid-postgresql",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"product_id": "uuid-postgresql",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"score": 5,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"comment":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"Excelente producto",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"message": "Llegó antes del plazo..."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"metadata": {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"creation_date": "2018-03-15T14:22:00Z",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"synced_at": "2026-05-18T02:00:00Z"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800600" y="4315968"/>
            <a:ext cx="3931920" cy="594360"/>
          </a:xfrm>
          <a:prstGeom prst="rect">
            <a:avLst/>
          </a:prstGeom>
          <a:solidFill>
            <a:srgbClr val="000000"/>
          </a:solidFill>
          <a:ln w="63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64608" y="4315968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5EA7"/>
                </a:solidFill>
              </a:rPr>
              <a:t>Patrón: Subset Pattern + Reference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4754880"/>
            <a:ext cx="8686800" cy="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Referencia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0" y="1645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· VPC · RDS · S3 · MongoDB Atlas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777240"/>
            <a:ext cx="502920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clave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03720" y="141732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150608" y="1389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→ API REST C# .NET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903720" y="2075688"/>
            <a:ext cx="164592" cy="164592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7150608" y="2048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PostgreSQL (ACID)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73405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150608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Storage (imágenes)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03720" y="3392424"/>
            <a:ext cx="164592" cy="164592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150608" y="3364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· Cloud External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Arquitectónicas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2062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069848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08813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0241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para el módulo transaccional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59105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pagos y clientes exigen integridad referencial estricta. La restricción es de negocio, no técnica.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54880" y="841248"/>
            <a:ext cx="42062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937760" y="1069848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37760" y="108813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9552" y="10241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TEXT[] y JSONB en el mismo esquema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59552" y="159105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tablas satélite innecesarias. PostgreSQL ofrece variabilidad estructural sin perder el control transaccional.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2898648"/>
            <a:ext cx="42062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14553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0815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en cloud externo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64845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 la carga analítica. Acepta latencia eventual a cambio de escalabilidad diferenciada por dominio.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9864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54880" y="2898648"/>
            <a:ext cx="42062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937760" y="312724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937760" y="3145536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9552" y="30815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como clave de sincronización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9552" y="364845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motores referencian la misma entidad sin dependencia directa. El ETL sincroniza sin acoplar esquemas.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Análisis CAP &amp; Matriz de Decisión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47472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47472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</a:rPr>
              <a:t>Teorema CAP — Ecommify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3383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12710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Transaccional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orders, payments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95728" y="132588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395728" y="1325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34640" y="13441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PostgreSQL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856232"/>
            <a:ext cx="3383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47472" y="1892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Clientes / Vendedores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130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customers, sellers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95728" y="1947672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395728" y="19476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34640" y="19659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PostgreSQL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478024"/>
            <a:ext cx="3383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47472" y="2514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Geolocalización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7523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geolocations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395728" y="256946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395728" y="2569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5877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PostgreSQL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099816"/>
            <a:ext cx="3383280" cy="566928"/>
          </a:xfrm>
          <a:prstGeom prst="rect">
            <a:avLst/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47472" y="31363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Catálogo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37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products, details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395728" y="319125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2395728" y="3191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34640" y="32095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AA6F"/>
                </a:solidFill>
              </a:rPr>
              <a:t>MongoDB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721608"/>
            <a:ext cx="33832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47472" y="3758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Reseñas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3995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</a:rPr>
              <a:t>reviews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95728" y="3813048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2395728" y="38130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834640" y="38313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AA6F"/>
                </a:solidFill>
              </a:rPr>
              <a:t>MongoDB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931920" y="777240"/>
            <a:ext cx="498348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3931920" y="777240"/>
            <a:ext cx="4983480" cy="5486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023360" y="8686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</a:rPr>
              <a:t>Matriz de Decisión por Criterio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77640" y="1207008"/>
            <a:ext cx="1920240" cy="29260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3977640" y="12070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Criterio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97880" y="1207008"/>
            <a:ext cx="1371600" cy="2926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897880" y="12070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PostgreSQL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69480" y="1207008"/>
            <a:ext cx="1371600" cy="292608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7269480" y="12070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MongoDB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641080" y="1207008"/>
            <a:ext cx="640080" cy="29260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8641080" y="12070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Peso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977640" y="1536192"/>
            <a:ext cx="19202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4050792" y="159105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Integridad referencial (FK)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97880" y="1536192"/>
            <a:ext cx="1371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5971032" y="159105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472C4"/>
                </a:solidFill>
              </a:rPr>
              <a:t>Nativa — obligatoria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7269480" y="1536192"/>
            <a:ext cx="1371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7342632" y="159105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DAA6F"/>
                </a:solidFill>
              </a:rPr>
              <a:t>Manual en app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8641080" y="1536192"/>
            <a:ext cx="640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Shape 53"/>
          <p:cNvSpPr/>
          <p:nvPr/>
        </p:nvSpPr>
        <p:spPr>
          <a:xfrm>
            <a:off x="8714232" y="1627632"/>
            <a:ext cx="49377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8714232" y="162763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977640" y="2029968"/>
            <a:ext cx="192024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4050792" y="208483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Transacciones ACID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897880" y="2029968"/>
            <a:ext cx="1371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5971032" y="20848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472C4"/>
                </a:solidFill>
              </a:rPr>
              <a:t>Completas — WAL, MVCC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269480" y="2029968"/>
            <a:ext cx="1371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7342632" y="20848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DAA6F"/>
                </a:solidFill>
              </a:rPr>
              <a:t>Parcial v4.0+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8641080" y="2029968"/>
            <a:ext cx="64008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Shape 62"/>
          <p:cNvSpPr/>
          <p:nvPr/>
        </p:nvSpPr>
        <p:spPr>
          <a:xfrm>
            <a:off x="8714232" y="2121408"/>
            <a:ext cx="49377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8714232" y="21214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977640" y="2523744"/>
            <a:ext cx="19202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4050792" y="25786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Esquema flexible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897880" y="2523744"/>
            <a:ext cx="1371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5971032" y="257860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472C4"/>
                </a:solidFill>
              </a:rPr>
              <a:t>Rígido — DDL requerido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7269480" y="2523744"/>
            <a:ext cx="1371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7342632" y="257860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DAA6F"/>
                </a:solidFill>
              </a:rPr>
              <a:t>Documentos nativos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8641080" y="2523744"/>
            <a:ext cx="640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Shape 71"/>
          <p:cNvSpPr/>
          <p:nvPr/>
        </p:nvSpPr>
        <p:spPr>
          <a:xfrm>
            <a:off x="8714232" y="2615184"/>
            <a:ext cx="493776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2"/>
          <p:cNvSpPr/>
          <p:nvPr/>
        </p:nvSpPr>
        <p:spPr>
          <a:xfrm>
            <a:off x="8714232" y="261518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977640" y="3017520"/>
            <a:ext cx="192024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4050792" y="30723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Escalabilidad horizontal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897880" y="3017520"/>
            <a:ext cx="1371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6"/>
          <p:cNvSpPr/>
          <p:nvPr/>
        </p:nvSpPr>
        <p:spPr>
          <a:xfrm>
            <a:off x="5971032" y="307238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472C4"/>
                </a:solidFill>
              </a:rPr>
              <a:t>Limitada (Citus)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7269480" y="3017520"/>
            <a:ext cx="1371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Text 78"/>
          <p:cNvSpPr/>
          <p:nvPr/>
        </p:nvSpPr>
        <p:spPr>
          <a:xfrm>
            <a:off x="7342632" y="307238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DAA6F"/>
                </a:solidFill>
              </a:rPr>
              <a:t>Sharding nativo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8641080" y="3017520"/>
            <a:ext cx="64008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2" name="Shape 80"/>
          <p:cNvSpPr/>
          <p:nvPr/>
        </p:nvSpPr>
        <p:spPr>
          <a:xfrm>
            <a:off x="8714232" y="3108960"/>
            <a:ext cx="493776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3" name="Text 81"/>
          <p:cNvSpPr/>
          <p:nvPr/>
        </p:nvSpPr>
        <p:spPr>
          <a:xfrm>
            <a:off x="8714232" y="310896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977640" y="3511296"/>
            <a:ext cx="19202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5" name="Text 83"/>
          <p:cNvSpPr/>
          <p:nvPr/>
        </p:nvSpPr>
        <p:spPr>
          <a:xfrm>
            <a:off x="4050792" y="35661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Atributos variables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897880" y="3511296"/>
            <a:ext cx="1371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7" name="Text 85"/>
          <p:cNvSpPr/>
          <p:nvPr/>
        </p:nvSpPr>
        <p:spPr>
          <a:xfrm>
            <a:off x="5971032" y="35661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472C4"/>
                </a:solidFill>
              </a:rPr>
              <a:t>JSONB workaround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7269480" y="3511296"/>
            <a:ext cx="1371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9" name="Text 87"/>
          <p:cNvSpPr/>
          <p:nvPr/>
        </p:nvSpPr>
        <p:spPr>
          <a:xfrm>
            <a:off x="7342632" y="35661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DAA6F"/>
                </a:solidFill>
              </a:rPr>
              <a:t>Documentos nativos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8641080" y="3511296"/>
            <a:ext cx="640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1" name="Shape 89"/>
          <p:cNvSpPr/>
          <p:nvPr/>
        </p:nvSpPr>
        <p:spPr>
          <a:xfrm>
            <a:off x="8714232" y="3602736"/>
            <a:ext cx="49377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2" name="Text 90"/>
          <p:cNvSpPr/>
          <p:nvPr/>
        </p:nvSpPr>
        <p:spPr>
          <a:xfrm>
            <a:off x="8714232" y="360273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Alto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977640" y="4005072"/>
            <a:ext cx="192024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4" name="Text 92"/>
          <p:cNvSpPr/>
          <p:nvPr/>
        </p:nvSpPr>
        <p:spPr>
          <a:xfrm>
            <a:off x="4050792" y="405993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4A4A"/>
                </a:solidFill>
              </a:rPr>
              <a:t>Costo free tier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897880" y="4005072"/>
            <a:ext cx="1371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6" name="Text 94"/>
          <p:cNvSpPr/>
          <p:nvPr/>
        </p:nvSpPr>
        <p:spPr>
          <a:xfrm>
            <a:off x="5971032" y="405993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472C4"/>
                </a:solidFill>
              </a:rPr>
              <a:t>Supabase 500MB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7269480" y="4005072"/>
            <a:ext cx="137160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8" name="Text 96"/>
          <p:cNvSpPr/>
          <p:nvPr/>
        </p:nvSpPr>
        <p:spPr>
          <a:xfrm>
            <a:off x="7342632" y="405993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DAA6F"/>
                </a:solidFill>
              </a:rPr>
              <a:t>Atlas M0 512MB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8641080" y="4005072"/>
            <a:ext cx="640080" cy="457200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0" name="Shape 98"/>
          <p:cNvSpPr/>
          <p:nvPr/>
        </p:nvSpPr>
        <p:spPr>
          <a:xfrm>
            <a:off x="8714232" y="4096512"/>
            <a:ext cx="493776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1" name="Text 99"/>
          <p:cNvSpPr/>
          <p:nvPr/>
        </p:nvSpPr>
        <p:spPr>
          <a:xfrm>
            <a:off x="8714232" y="40965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Medio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Repositorio &amp; Entregables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3464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 01_architecture/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" y="1179576"/>
            <a:ext cx="45720" cy="14264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48056" y="1197864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01_er_conceptual.png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02_logical_schema.png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03_reference_architecture.png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7248" y="777240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127248" y="777240"/>
            <a:ext cx="283464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18688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✏️  02_objects/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36976" y="1179576"/>
            <a:ext cx="45720" cy="14264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346704" y="1197864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ecommify_er.drawio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</a:rPr>
              <a:t>— Tab 1: ER Conceptual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</a:rPr>
              <a:t>— Tab 2: Esquema Lógico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</a:rPr>
              <a:t>— Tab 3: Arq. Referencia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25896" y="777240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25896" y="777240"/>
            <a:ext cx="2834640" cy="34747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17336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03_scripts/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35624" y="1179576"/>
            <a:ext cx="45720" cy="142646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245352" y="1197864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01_ddl_schema.sql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02_indexes.sql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03_seed_data.sql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04_queries_demo.sql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05_maintenance_pgcron.sql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761488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761488"/>
            <a:ext cx="28346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20040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04_docs/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" y="3163824"/>
            <a:ext cx="45720" cy="14264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48056" y="3182112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01_Documento_Tecnico.pdf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02_Presentacion_Ejecutiva.pptx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27248" y="2761488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127248" y="2761488"/>
            <a:ext cx="2834640" cy="347472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18688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📓  05_notebooks/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36976" y="3163824"/>
            <a:ext cx="45720" cy="1426464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346704" y="3182112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Data_Exploration_Analysis.ipynb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25896" y="2761488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025896" y="2761488"/>
            <a:ext cx="28346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117336" y="27614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🍃  06_mongodb/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35624" y="3163824"/>
            <a:ext cx="45720" cy="14264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245352" y="3182112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product_catalog_schema.json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reviews_schema.json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4472C4"/>
                </a:solidFill>
              </a:rPr>
              <a:t>github.com/lara44/sabana.ecommify.database.design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Limitaciones, Mitigaciones &amp; Plan de Implementación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</a:rPr>
              <a:t>Limitaciones &amp; Mitigaciones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16152"/>
            <a:ext cx="64008" cy="3931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02336" y="12252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</a:rPr>
              <a:t>Supabase Free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13990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0392B"/>
                </a:solidFill>
              </a:rPr>
              <a:t>❌ 500 MB almacenamiento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402336" y="154533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7AE60"/>
                </a:solidFill>
              </a:rPr>
              <a:t>✔ Deduplicación geolocations: 1M → ~19K filas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74320" y="1700784"/>
            <a:ext cx="64008" cy="393192"/>
          </a:xfrm>
          <a:prstGeom prst="rect">
            <a:avLst/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02336" y="1709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AA6F"/>
                </a:solidFill>
              </a:rPr>
              <a:t>MongoDB Atlas M0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18836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0392B"/>
                </a:solidFill>
              </a:rPr>
              <a:t>❌ 512 MB, sin sharding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02336" y="20299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7AE60"/>
                </a:solidFill>
              </a:rPr>
              <a:t>✔ Dataset Olist ~60 MB descomprimido — margen amplio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74320" y="2185416"/>
            <a:ext cx="64008" cy="39319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02336" y="2194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225"/>
                </a:solidFill>
              </a:rPr>
              <a:t>Google Colab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23682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0392B"/>
                </a:solidFill>
              </a:rPr>
              <a:t>❌ Runtime ~90 min inactividad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02336" y="251460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7AE60"/>
                </a:solidFill>
              </a:rPr>
              <a:t>✔ Scripts idempotentes ON CONFLICT DO NOTHING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64008" cy="3931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02336" y="26791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5EA7"/>
                </a:solidFill>
              </a:rPr>
              <a:t>Joins entre motores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28529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0392B"/>
                </a:solidFill>
              </a:rPr>
              <a:t>❌ No nativos entre PG y Mongo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02336" y="29992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7AE60"/>
                </a:solidFill>
              </a:rPr>
              <a:t>✔ UUID compartido en product_id — join en la app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572000" y="777240"/>
            <a:ext cx="43434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572000" y="777240"/>
            <a:ext cx="4343400" cy="54864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63440" y="8686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</a:rPr>
              <a:t>Plan de Implementación por Fases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5152" y="1252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645152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65776" y="1252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</a:rPr>
              <a:t>Diseño (actual)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65776" y="14356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ER + DDL + índices + MVs documentados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45152" y="17373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2DAA6F"/>
          </a:solidFill>
          <a:ln w="12700">
            <a:solidFill>
              <a:srgbClr val="2DAA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64515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65776" y="1737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AA6F"/>
                </a:solidFill>
              </a:rPr>
              <a:t>Carga en Supabase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65776" y="1920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ETL del dataset Olist + validación de integridad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45152" y="22219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645152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65776" y="2221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5EA7"/>
                </a:solidFill>
              </a:rPr>
              <a:t>Módulo MongoDB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65776" y="2404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Colecciones product_catalog y reviews en Atlas M0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45152" y="270662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645152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65776" y="27066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225"/>
                </a:solidFill>
              </a:rPr>
              <a:t>Sincronización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65776" y="28895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Trigger event-driven + Batch ETL nocturno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3401568"/>
            <a:ext cx="8686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228600" y="3401568"/>
            <a:ext cx="868680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320040" y="349300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</a:rPr>
              <a:t>Métricas de Éxito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72C4"/>
                </a:solidFill>
              </a:rPr>
              <a:t>&lt; 100 ms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57200" y="4279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Tiempo respuesta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transaccional (p95)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06040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AA6F"/>
                </a:solidFill>
              </a:rPr>
              <a:t>100 K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2606040" y="4279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Registros cargados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sin errores ACID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5EA7"/>
                </a:solidFill>
              </a:rPr>
              <a:t>3FN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754880" y="4279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Normalización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mínima garantizada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03720" y="37673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5"/>
                </a:solidFill>
              </a:rPr>
              <a:t>100 %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903720" y="4279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Entidades con DDL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y justificación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040880" y="27432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516368" y="27432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991856" y="27432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467344" y="27432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040880" y="749808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516368" y="749808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991856" y="749808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8467344" y="749808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7040880" y="1225296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516368" y="1225296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991856" y="1225296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467344" y="1225296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040880" y="1700784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516368" y="1700784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991856" y="1700784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467344" y="1700784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040880" y="2176272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516368" y="2176272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7991856" y="2176272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8467344" y="2176272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040880" y="265176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7516368" y="265176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991856" y="265176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8467344" y="2651760"/>
            <a:ext cx="82296" cy="82296"/>
          </a:xfrm>
          <a:prstGeom prst="ellipse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2920" y="2743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411480" y="10972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1480" y="11155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106984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único motor óptimo — la decisión se tomó por restricciones de negocio, no por preferencia técnica.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184708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11480" y="18653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1819656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asume el módulo transaccional porque la integridad referencial es una garantía que el negocio exige.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259689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11480" y="26151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2569464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TEXT[] y JSONB dentro del mismo esquema evitan complejidad innecesaria manteniendo el control del motor relacional.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334670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11480" y="33649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" y="3319272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en cloud externo acepta latencia eventual a cambio de escalabilidad diferenciada por dominio.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4096512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411480" y="4114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" y="4069080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UUID compartido es la decisión de integración que permite autonomía sin acoplamiento entre esquemas.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1245</Words>
  <Application>Microsoft Office PowerPoint</Application>
  <PresentationFormat>Presentación en pantalla (16:9)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Ecommify · Database Design</dc:title>
  <dc:subject>PptxGenJS Presentation</dc:subject>
  <dc:creator>PptxGenJS</dc:creator>
  <cp:lastModifiedBy>RODRÍGUEZ Astrid Carolina</cp:lastModifiedBy>
  <cp:revision>2</cp:revision>
  <dcterms:created xsi:type="dcterms:W3CDTF">2026-05-25T14:53:05Z</dcterms:created>
  <dcterms:modified xsi:type="dcterms:W3CDTF">2026-05-26T01:36:03Z</dcterms:modified>
</cp:coreProperties>
</file>